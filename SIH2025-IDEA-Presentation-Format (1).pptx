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0000"/>
    <a:srgbClr val="9BBB59"/>
    <a:srgbClr val="39B0D4"/>
    <a:srgbClr val="727272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946" y="25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9/13/2025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9/13/2025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9/13/2025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9/13/2025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9/13/2025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9/13/2025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9/13/2025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5000"/>
          </a:blip>
          <a:srcRect r="59916"/>
          <a:stretch/>
        </p:blipFill>
        <p:spPr>
          <a:xfrm>
            <a:off x="6844510" y="2493096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259861"/>
            <a:ext cx="8534400" cy="1067267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44337" y="-318655"/>
            <a:ext cx="10363200" cy="1573237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2025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93225" y="1319276"/>
            <a:ext cx="10906060" cy="5148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SIH25040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</a:t>
            </a:r>
            <a:r>
              <a:rPr 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FloatChat- AI-Powered Conversational Interface for ARGO Ocean Data Discovery and Visualization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 Miscellaneous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(Registered on portal)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6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62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E123927-9198-035F-DF5A-C68137B09790}"/>
              </a:ext>
            </a:extLst>
          </p:cNvPr>
          <p:cNvSpPr/>
          <p:nvPr/>
        </p:nvSpPr>
        <p:spPr>
          <a:xfrm>
            <a:off x="291245" y="1249239"/>
            <a:ext cx="5766227" cy="4840545"/>
          </a:xfrm>
          <a:prstGeom prst="rect">
            <a:avLst/>
          </a:prstGeom>
          <a:solidFill>
            <a:schemeClr val="bg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 dirty="0">
              <a:solidFill>
                <a:srgbClr val="0070C0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2354751-1E92-09F0-C41D-598CFAB8B98C}"/>
              </a:ext>
            </a:extLst>
          </p:cNvPr>
          <p:cNvSpPr/>
          <p:nvPr/>
        </p:nvSpPr>
        <p:spPr>
          <a:xfrm>
            <a:off x="6179903" y="1244915"/>
            <a:ext cx="5682324" cy="2394683"/>
          </a:xfrm>
          <a:prstGeom prst="rect">
            <a:avLst/>
          </a:prstGeom>
          <a:solidFill>
            <a:schemeClr val="bg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4EB69DE-15C9-04F6-1B3B-7020FBC95592}"/>
              </a:ext>
            </a:extLst>
          </p:cNvPr>
          <p:cNvSpPr/>
          <p:nvPr/>
        </p:nvSpPr>
        <p:spPr>
          <a:xfrm>
            <a:off x="6179903" y="3722144"/>
            <a:ext cx="5682324" cy="2355464"/>
          </a:xfrm>
          <a:prstGeom prst="rect">
            <a:avLst/>
          </a:prstGeom>
          <a:solidFill>
            <a:schemeClr val="bg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F83D17-A981-DD06-A91B-E6BE7E32AF56}"/>
              </a:ext>
            </a:extLst>
          </p:cNvPr>
          <p:cNvSpPr txBox="1"/>
          <p:nvPr/>
        </p:nvSpPr>
        <p:spPr>
          <a:xfrm>
            <a:off x="771140" y="1443768"/>
            <a:ext cx="5194784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70C0"/>
                </a:solidFill>
              </a:rPr>
              <a:t>IDEA /SOLUTION </a:t>
            </a:r>
            <a:endParaRPr lang="en-IN" sz="2000" b="1" dirty="0">
              <a:solidFill>
                <a:srgbClr val="0070C0"/>
              </a:solidFill>
            </a:endParaRPr>
          </a:p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E2208F1-D357-C8DC-A04D-1D5B363D3AD9}"/>
              </a:ext>
            </a:extLst>
          </p:cNvPr>
          <p:cNvSpPr txBox="1"/>
          <p:nvPr/>
        </p:nvSpPr>
        <p:spPr>
          <a:xfrm>
            <a:off x="6897414" y="1371586"/>
            <a:ext cx="4124871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70C0"/>
                </a:solidFill>
              </a:rPr>
              <a:t>PROBLEM RESOLUTION </a:t>
            </a:r>
            <a:endParaRPr lang="en-IN" sz="2000" b="1" dirty="0">
              <a:solidFill>
                <a:srgbClr val="0070C0"/>
              </a:solidFill>
            </a:endParaRPr>
          </a:p>
          <a:p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5660466-86BA-2F14-70DF-DA3810899D4E}"/>
              </a:ext>
            </a:extLst>
          </p:cNvPr>
          <p:cNvSpPr txBox="1"/>
          <p:nvPr/>
        </p:nvSpPr>
        <p:spPr>
          <a:xfrm>
            <a:off x="6897414" y="3877358"/>
            <a:ext cx="4258384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70C0"/>
                </a:solidFill>
              </a:rPr>
              <a:t>UNIQUE VALUE PROPOSITIONS (UVP)  </a:t>
            </a:r>
            <a:endParaRPr lang="en-IN" sz="2000" b="1" dirty="0">
              <a:solidFill>
                <a:srgbClr val="0070C0"/>
              </a:solidFill>
            </a:endParaRPr>
          </a:p>
          <a:p>
            <a:endParaRPr lang="en-IN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F3E4D8CD-8CA8-6900-2222-83EA20A0A3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3014" y="1314184"/>
            <a:ext cx="468126" cy="468126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D5454FA4-1E8E-7B5E-1504-76DDEC0900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4965" y="1298562"/>
            <a:ext cx="444062" cy="444062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92F34AE7-A6ED-085E-23D2-A1A20A6BA51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4965" y="3754957"/>
            <a:ext cx="549166" cy="549166"/>
          </a:xfrm>
          <a:prstGeom prst="rect">
            <a:avLst/>
          </a:prstGeom>
        </p:spPr>
      </p:pic>
      <p:sp>
        <p:nvSpPr>
          <p:cNvPr id="23" name="Rectangle 3">
            <a:extLst>
              <a:ext uri="{FF2B5EF4-FFF2-40B4-BE49-F238E27FC236}">
                <a16:creationId xmlns:a16="http://schemas.microsoft.com/office/drawing/2014/main" id="{95F11CB6-6B69-C71E-EBF6-CE64483B61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566" y="1911894"/>
            <a:ext cx="5408763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dirty="0"/>
              <a:t>An </a:t>
            </a:r>
            <a:r>
              <a:rPr lang="en-IN" b="1" dirty="0"/>
              <a:t>AI-powered Conversational Interface (</a:t>
            </a:r>
            <a:r>
              <a:rPr lang="en-IN" b="1" dirty="0" err="1"/>
              <a:t>FloatChat</a:t>
            </a:r>
            <a:r>
              <a:rPr lang="en-IN" b="1" dirty="0"/>
              <a:t>)</a:t>
            </a:r>
            <a:r>
              <a:rPr lang="en-IN" dirty="0"/>
              <a:t> for intuitive discovery and visualization of global ARGO data.</a:t>
            </a:r>
          </a:p>
          <a:p>
            <a:endParaRPr lang="en-IN" dirty="0"/>
          </a:p>
          <a:p>
            <a:r>
              <a:rPr lang="en-IN" dirty="0"/>
              <a:t>♦ </a:t>
            </a:r>
            <a:r>
              <a:rPr lang="en-IN" b="1" dirty="0"/>
              <a:t>Natural Language Processing (NLP)</a:t>
            </a:r>
            <a:r>
              <a:rPr lang="en-IN" dirty="0"/>
              <a:t> engine to instantly understand complex user queries.</a:t>
            </a:r>
          </a:p>
          <a:p>
            <a:r>
              <a:rPr lang="en-IN" dirty="0"/>
              <a:t>♦ </a:t>
            </a:r>
            <a:r>
              <a:rPr lang="en-IN" b="1" dirty="0"/>
              <a:t>Interactive, on-demand visualizations</a:t>
            </a:r>
            <a:r>
              <a:rPr lang="en-IN" dirty="0"/>
              <a:t> generated directly within the chat interface.</a:t>
            </a:r>
          </a:p>
          <a:p>
            <a:r>
              <a:rPr lang="en-IN" dirty="0"/>
              <a:t>♦ </a:t>
            </a:r>
            <a:r>
              <a:rPr lang="en-IN" b="1" dirty="0"/>
              <a:t>Machine Learning models</a:t>
            </a:r>
            <a:r>
              <a:rPr lang="en-IN" dirty="0"/>
              <a:t> for predictive analytics, trend identification, and anomaly detection.</a:t>
            </a:r>
          </a:p>
          <a:p>
            <a:r>
              <a:rPr lang="en-IN" dirty="0"/>
              <a:t>♦ </a:t>
            </a:r>
            <a:r>
              <a:rPr lang="en-IN" b="1" dirty="0"/>
              <a:t>Seamless integration</a:t>
            </a:r>
            <a:r>
              <a:rPr lang="en-IN" dirty="0"/>
              <a:t> with global ARGO data repositories for real-time data access.</a:t>
            </a:r>
          </a:p>
          <a:p>
            <a:r>
              <a:rPr lang="en-IN" dirty="0"/>
              <a:t>♦ </a:t>
            </a:r>
            <a:r>
              <a:rPr lang="en-IN" b="1" dirty="0"/>
              <a:t>Designed for maximum accessibility</a:t>
            </a:r>
            <a:r>
              <a:rPr lang="en-IN" dirty="0"/>
              <a:t>, requiring no specialized coding skills.</a:t>
            </a:r>
          </a:p>
        </p:txBody>
      </p:sp>
      <p:sp>
        <p:nvSpPr>
          <p:cNvPr id="25" name="Rectangle 4">
            <a:extLst>
              <a:ext uri="{FF2B5EF4-FFF2-40B4-BE49-F238E27FC236}">
                <a16:creationId xmlns:a16="http://schemas.microsoft.com/office/drawing/2014/main" id="{BD4C6368-C7B6-C319-68AE-73F6EFA1DB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4965" y="1824863"/>
            <a:ext cx="5332200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dirty="0"/>
              <a:t>♦ </a:t>
            </a:r>
            <a:r>
              <a:rPr lang="en-IN" b="1" dirty="0"/>
              <a:t>Simplifies complex data access</a:t>
            </a:r>
            <a:r>
              <a:rPr lang="en-IN" dirty="0"/>
              <a:t>, removing the need for intricate scripts or database navigation.</a:t>
            </a:r>
          </a:p>
          <a:p>
            <a:r>
              <a:rPr lang="en-IN" dirty="0"/>
              <a:t>♦ </a:t>
            </a:r>
            <a:r>
              <a:rPr lang="en-IN" b="1" dirty="0"/>
              <a:t>Accelerates data discovery</a:t>
            </a:r>
            <a:r>
              <a:rPr lang="en-IN" dirty="0"/>
              <a:t>, drastically reducing the time from question to visual insight.</a:t>
            </a:r>
          </a:p>
          <a:p>
            <a:r>
              <a:rPr lang="en-IN" dirty="0"/>
              <a:t>♦ </a:t>
            </a:r>
            <a:r>
              <a:rPr lang="en-IN" b="1" dirty="0"/>
              <a:t>Addresses data overload</a:t>
            </a:r>
            <a:r>
              <a:rPr lang="en-IN" dirty="0"/>
              <a:t> by conversationally pinpointing key information in massive datasets.</a:t>
            </a:r>
          </a:p>
        </p:txBody>
      </p:sp>
      <p:sp>
        <p:nvSpPr>
          <p:cNvPr id="28" name="Rectangle 7">
            <a:extLst>
              <a:ext uri="{FF2B5EF4-FFF2-40B4-BE49-F238E27FC236}">
                <a16:creationId xmlns:a16="http://schemas.microsoft.com/office/drawing/2014/main" id="{5581DE24-5CD7-A726-1A71-C9D6A46A3C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4965" y="4248734"/>
            <a:ext cx="5277132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♦ </a:t>
            </a:r>
            <a:r>
              <a:rPr lang="en-US" b="1" dirty="0"/>
              <a:t>Instant Visualizations</a:t>
            </a:r>
            <a:r>
              <a:rPr lang="en-US" dirty="0"/>
              <a:t> from simple conversational queries.</a:t>
            </a:r>
          </a:p>
          <a:p>
            <a:r>
              <a:rPr lang="en-US" dirty="0"/>
              <a:t>♦ </a:t>
            </a:r>
            <a:r>
              <a:rPr lang="en-US" b="1" dirty="0"/>
              <a:t>AI-Driven Insights</a:t>
            </a:r>
            <a:r>
              <a:rPr lang="en-US" dirty="0"/>
              <a:t> that automatically identify key trends and anomalies.</a:t>
            </a:r>
          </a:p>
          <a:p>
            <a:r>
              <a:rPr lang="en-US" dirty="0"/>
              <a:t>♦ </a:t>
            </a:r>
            <a:r>
              <a:rPr lang="en-US" b="1" dirty="0"/>
              <a:t>Universally Accessible &amp; Scalable</a:t>
            </a:r>
            <a:r>
              <a:rPr lang="en-US" dirty="0"/>
              <a:t>, with the latest up-to-date global ocean data.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54C5D29-B333-0C37-64DD-F7C4A998684C}"/>
              </a:ext>
            </a:extLst>
          </p:cNvPr>
          <p:cNvSpPr/>
          <p:nvPr/>
        </p:nvSpPr>
        <p:spPr>
          <a:xfrm>
            <a:off x="329773" y="1231897"/>
            <a:ext cx="6060867" cy="4986343"/>
          </a:xfrm>
          <a:prstGeom prst="rect">
            <a:avLst/>
          </a:prstGeom>
          <a:solidFill>
            <a:schemeClr val="bg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DA373C-0BBB-B420-B41F-1AC1E47DD328}"/>
              </a:ext>
            </a:extLst>
          </p:cNvPr>
          <p:cNvSpPr txBox="1"/>
          <p:nvPr/>
        </p:nvSpPr>
        <p:spPr>
          <a:xfrm>
            <a:off x="432749" y="1897808"/>
            <a:ext cx="5854913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♦ </a:t>
            </a:r>
            <a:r>
              <a:rPr lang="en-IN" b="1" dirty="0"/>
              <a:t>Frontend:</a:t>
            </a:r>
            <a:r>
              <a:rPr lang="en-IN" dirty="0"/>
              <a:t> </a:t>
            </a:r>
          </a:p>
          <a:p>
            <a:r>
              <a:rPr lang="en-IN" b="1" dirty="0"/>
              <a:t>Three.js (React) </a:t>
            </a:r>
            <a:r>
              <a:rPr lang="en-IN" dirty="0"/>
              <a:t>- For building the fast and modern conversational UI.</a:t>
            </a:r>
          </a:p>
          <a:p>
            <a:r>
              <a:rPr lang="en-IN" dirty="0"/>
              <a:t>♦ </a:t>
            </a:r>
            <a:r>
              <a:rPr lang="en-IN" b="1" dirty="0"/>
              <a:t>Backend:</a:t>
            </a:r>
            <a:r>
              <a:rPr lang="en-IN" dirty="0"/>
              <a:t> </a:t>
            </a:r>
          </a:p>
          <a:p>
            <a:r>
              <a:rPr lang="en-IN" b="1" dirty="0"/>
              <a:t>Python &amp; </a:t>
            </a:r>
            <a:r>
              <a:rPr lang="en-IN" b="1" dirty="0" err="1"/>
              <a:t>FastAPI</a:t>
            </a:r>
            <a:r>
              <a:rPr lang="en-IN" b="1" dirty="0"/>
              <a:t> </a:t>
            </a:r>
            <a:r>
              <a:rPr lang="en-IN" dirty="0"/>
              <a:t>- For high-performance APIs and core data processing logic.</a:t>
            </a:r>
          </a:p>
          <a:p>
            <a:r>
              <a:rPr lang="en-IN" dirty="0"/>
              <a:t>♦ </a:t>
            </a:r>
            <a:r>
              <a:rPr lang="en-IN" b="1" dirty="0"/>
              <a:t>AI &amp; Data Processing:</a:t>
            </a:r>
            <a:r>
              <a:rPr lang="en-IN" dirty="0"/>
              <a:t> </a:t>
            </a:r>
          </a:p>
          <a:p>
            <a:r>
              <a:rPr lang="en-IN" b="1" dirty="0" err="1"/>
              <a:t>spaCy</a:t>
            </a:r>
            <a:r>
              <a:rPr lang="en-IN" b="1" dirty="0"/>
              <a:t> &amp; Transformers </a:t>
            </a:r>
            <a:r>
              <a:rPr lang="en-IN" dirty="0"/>
              <a:t>for NLP; </a:t>
            </a:r>
            <a:r>
              <a:rPr lang="en-IN" b="1" dirty="0"/>
              <a:t>Pandas</a:t>
            </a:r>
            <a:r>
              <a:rPr lang="en-IN" dirty="0"/>
              <a:t> for data manipulation.</a:t>
            </a:r>
          </a:p>
          <a:p>
            <a:r>
              <a:rPr lang="en-IN" dirty="0"/>
              <a:t>♦ </a:t>
            </a:r>
            <a:r>
              <a:rPr lang="en-IN" b="1" dirty="0"/>
              <a:t>Data Visualization:</a:t>
            </a:r>
            <a:r>
              <a:rPr lang="en-IN" dirty="0"/>
              <a:t> </a:t>
            </a:r>
          </a:p>
          <a:p>
            <a:r>
              <a:rPr lang="en-IN" b="1" dirty="0"/>
              <a:t>Plotly.js &amp; D3.js </a:t>
            </a:r>
            <a:r>
              <a:rPr lang="en-IN" dirty="0"/>
              <a:t>- To generate interactive, real-time charts and maps.</a:t>
            </a:r>
          </a:p>
          <a:p>
            <a:r>
              <a:rPr lang="en-IN" dirty="0"/>
              <a:t>♦ </a:t>
            </a:r>
            <a:r>
              <a:rPr lang="en-IN" b="1" dirty="0"/>
              <a:t>Database &amp; Cloud:</a:t>
            </a:r>
            <a:r>
              <a:rPr lang="en-IN" dirty="0"/>
              <a:t> </a:t>
            </a:r>
          </a:p>
          <a:p>
            <a:r>
              <a:rPr lang="en-IN" b="1" dirty="0"/>
              <a:t>PostgreSQL</a:t>
            </a:r>
            <a:r>
              <a:rPr lang="en-IN" dirty="0"/>
              <a:t> with </a:t>
            </a:r>
            <a:r>
              <a:rPr lang="en-IN" b="1" dirty="0"/>
              <a:t>Docker</a:t>
            </a:r>
            <a:r>
              <a:rPr lang="en-IN" dirty="0"/>
              <a:t> on </a:t>
            </a:r>
            <a:r>
              <a:rPr lang="en-IN" b="1" dirty="0"/>
              <a:t>AWS/GCP </a:t>
            </a:r>
            <a:r>
              <a:rPr lang="en-IN" dirty="0"/>
              <a:t>for a scalable cloud deployment.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7E10CC3-832A-E48B-8A34-D544C446EF53}"/>
              </a:ext>
            </a:extLst>
          </p:cNvPr>
          <p:cNvSpPr txBox="1"/>
          <p:nvPr/>
        </p:nvSpPr>
        <p:spPr>
          <a:xfrm>
            <a:off x="865118" y="1382577"/>
            <a:ext cx="5194784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70C0"/>
                </a:solidFill>
              </a:rPr>
              <a:t>TECHNICAL STACK </a:t>
            </a:r>
            <a:endParaRPr lang="en-IN" sz="2000" b="1" dirty="0">
              <a:solidFill>
                <a:srgbClr val="0070C0"/>
              </a:solidFill>
            </a:endParaRPr>
          </a:p>
          <a:p>
            <a:endParaRPr lang="en-IN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E5F5E262-4C03-9BAC-134F-2706D5F1E6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221" y="1300709"/>
            <a:ext cx="447897" cy="447897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5794A605-3756-CD9A-A139-0C057DE5DD3D}"/>
              </a:ext>
            </a:extLst>
          </p:cNvPr>
          <p:cNvSpPr/>
          <p:nvPr/>
        </p:nvSpPr>
        <p:spPr>
          <a:xfrm>
            <a:off x="6461760" y="4978400"/>
            <a:ext cx="5400467" cy="1239840"/>
          </a:xfrm>
          <a:prstGeom prst="rect">
            <a:avLst/>
          </a:prstGeom>
          <a:solidFill>
            <a:schemeClr val="bg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943486F-A198-9116-90CA-0EA50EC6D11D}"/>
              </a:ext>
            </a:extLst>
          </p:cNvPr>
          <p:cNvSpPr txBox="1"/>
          <p:nvPr/>
        </p:nvSpPr>
        <p:spPr>
          <a:xfrm>
            <a:off x="6947340" y="5170793"/>
            <a:ext cx="31415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PRODUCT STATUS </a:t>
            </a:r>
            <a:endParaRPr lang="en-IN" b="1" dirty="0">
              <a:solidFill>
                <a:srgbClr val="0070C0"/>
              </a:solidFill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F9C79BAE-33BE-9291-4214-2F3CCFCF70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1740" y="5056063"/>
            <a:ext cx="406400" cy="4064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57B15F01-6F70-6696-3D6E-36A278C0905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1357"/>
          <a:stretch>
            <a:fillRect/>
          </a:stretch>
        </p:blipFill>
        <p:spPr>
          <a:xfrm>
            <a:off x="6478088" y="1213302"/>
            <a:ext cx="5400467" cy="368743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073D9F8D-4918-FC50-82BB-0C12EE020982}"/>
              </a:ext>
            </a:extLst>
          </p:cNvPr>
          <p:cNvSpPr/>
          <p:nvPr/>
        </p:nvSpPr>
        <p:spPr>
          <a:xfrm>
            <a:off x="5702515" y="2208039"/>
            <a:ext cx="6284529" cy="3833533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F7AFCCB-5EFE-8C9B-E346-8B1186BE0981}"/>
              </a:ext>
            </a:extLst>
          </p:cNvPr>
          <p:cNvSpPr/>
          <p:nvPr/>
        </p:nvSpPr>
        <p:spPr>
          <a:xfrm>
            <a:off x="5777411" y="4151872"/>
            <a:ext cx="1986823" cy="178402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9811171-43BA-0D9D-F1B5-CFE46226DA59}"/>
              </a:ext>
            </a:extLst>
          </p:cNvPr>
          <p:cNvSpPr/>
          <p:nvPr/>
        </p:nvSpPr>
        <p:spPr>
          <a:xfrm>
            <a:off x="9936095" y="4151872"/>
            <a:ext cx="1986823" cy="178402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ED814CE-4B73-BE71-A82A-8A97094972E4}"/>
              </a:ext>
            </a:extLst>
          </p:cNvPr>
          <p:cNvSpPr/>
          <p:nvPr/>
        </p:nvSpPr>
        <p:spPr>
          <a:xfrm>
            <a:off x="7839133" y="4151872"/>
            <a:ext cx="2032835" cy="178402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4789B1B-7CC3-9E13-996A-7B73CF462A43}"/>
              </a:ext>
            </a:extLst>
          </p:cNvPr>
          <p:cNvSpPr/>
          <p:nvPr/>
        </p:nvSpPr>
        <p:spPr>
          <a:xfrm>
            <a:off x="9936095" y="2316031"/>
            <a:ext cx="1986823" cy="176564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A11B850-6140-646B-3492-DE854EA91B32}"/>
              </a:ext>
            </a:extLst>
          </p:cNvPr>
          <p:cNvSpPr/>
          <p:nvPr/>
        </p:nvSpPr>
        <p:spPr>
          <a:xfrm>
            <a:off x="7839134" y="2297650"/>
            <a:ext cx="2032835" cy="178402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EAC200E-17AB-391B-D0D2-0A9B1A86443A}"/>
              </a:ext>
            </a:extLst>
          </p:cNvPr>
          <p:cNvSpPr/>
          <p:nvPr/>
        </p:nvSpPr>
        <p:spPr>
          <a:xfrm>
            <a:off x="5777413" y="2282906"/>
            <a:ext cx="1986823" cy="179877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7178E2FC-5EE1-6BD2-1E62-098055623458}"/>
              </a:ext>
            </a:extLst>
          </p:cNvPr>
          <p:cNvSpPr/>
          <p:nvPr/>
        </p:nvSpPr>
        <p:spPr>
          <a:xfrm>
            <a:off x="204955" y="1245476"/>
            <a:ext cx="5376041" cy="4972764"/>
          </a:xfrm>
          <a:prstGeom prst="rect">
            <a:avLst/>
          </a:prstGeom>
          <a:solidFill>
            <a:schemeClr val="bg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9D7F7CD-2D65-5965-4F02-EBA8F04E894C}"/>
              </a:ext>
            </a:extLst>
          </p:cNvPr>
          <p:cNvSpPr txBox="1"/>
          <p:nvPr/>
        </p:nvSpPr>
        <p:spPr>
          <a:xfrm>
            <a:off x="401372" y="1412873"/>
            <a:ext cx="4983206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	</a:t>
            </a:r>
            <a:r>
              <a:rPr lang="en-US" sz="2000" b="1" dirty="0">
                <a:solidFill>
                  <a:srgbClr val="0070C0"/>
                </a:solidFill>
              </a:rPr>
              <a:t>TECHNICAL FEASIBILITY </a:t>
            </a:r>
            <a:endParaRPr lang="en-IN" sz="2000" b="1" dirty="0">
              <a:solidFill>
                <a:srgbClr val="0070C0"/>
              </a:solidFill>
            </a:endParaRPr>
          </a:p>
          <a:p>
            <a:pPr>
              <a:buNone/>
            </a:pPr>
            <a:r>
              <a:rPr lang="en-US" sz="2000" dirty="0"/>
              <a:t>AI analysis using open-source NLP models. ARGO data is accessible via reliable public APIs. Modern web frameworks ensure a responsive and scalable platform.</a:t>
            </a:r>
          </a:p>
          <a:p>
            <a:pPr>
              <a:buNone/>
            </a:pPr>
            <a:endParaRPr lang="en-US" sz="800" dirty="0"/>
          </a:p>
          <a:p>
            <a:pPr>
              <a:buNone/>
            </a:pPr>
            <a:r>
              <a:rPr lang="en-US" sz="2000" b="1" dirty="0"/>
              <a:t>	</a:t>
            </a:r>
            <a:r>
              <a:rPr lang="en-US" sz="2000" b="1" dirty="0">
                <a:solidFill>
                  <a:srgbClr val="0070C0"/>
                </a:solidFill>
              </a:rPr>
              <a:t> OPERATIONAL FEASIBILITY</a:t>
            </a:r>
          </a:p>
          <a:p>
            <a:pPr>
              <a:buNone/>
            </a:pPr>
            <a:r>
              <a:rPr lang="en-US" sz="2000" dirty="0"/>
              <a:t> Easy adoption by researchers, students, and policymakers. Works for non-coders and specialists alike through an intuitive conversational UI.</a:t>
            </a:r>
          </a:p>
          <a:p>
            <a:pPr>
              <a:buNone/>
            </a:pPr>
            <a:endParaRPr lang="en-US" sz="800" dirty="0"/>
          </a:p>
          <a:p>
            <a:pPr>
              <a:buNone/>
            </a:pPr>
            <a:r>
              <a:rPr lang="en-US" sz="2000" b="1" dirty="0"/>
              <a:t>	</a:t>
            </a:r>
            <a:r>
              <a:rPr lang="en-US" sz="2000" b="1" dirty="0">
                <a:solidFill>
                  <a:srgbClr val="0070C0"/>
                </a:solidFill>
              </a:rPr>
              <a:t> ECONOMICAL FEASIBILITY</a:t>
            </a:r>
            <a:r>
              <a:rPr lang="en-US" sz="2000" dirty="0"/>
              <a:t> Uses open-source frameworks making it cost-effective. Free-tier cloud services reduce expenses compared to expensive proprietary software.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1605215-5AB2-92DA-97EA-89EB155B69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370" y="1306441"/>
            <a:ext cx="447992" cy="44799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B284A7E-018B-27BF-B5FF-A5E9F2BCA5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851" y="2982310"/>
            <a:ext cx="446690" cy="44669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021499AB-2043-A53C-383A-876256D7E0B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2891" y="4656876"/>
            <a:ext cx="446689" cy="446689"/>
          </a:xfrm>
          <a:prstGeom prst="rect">
            <a:avLst/>
          </a:prstGeom>
        </p:spPr>
      </p:pic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2414A35C-3A66-6536-607A-CB33F9F410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9876261"/>
              </p:ext>
            </p:extLst>
          </p:nvPr>
        </p:nvGraphicFramePr>
        <p:xfrm>
          <a:off x="5744757" y="2317469"/>
          <a:ext cx="6284529" cy="3596640"/>
        </p:xfrm>
        <a:graphic>
          <a:graphicData uri="http://schemas.openxmlformats.org/drawingml/2006/table">
            <a:tbl>
              <a:tblPr/>
              <a:tblGrid>
                <a:gridCol w="2094843">
                  <a:extLst>
                    <a:ext uri="{9D8B030D-6E8A-4147-A177-3AD203B41FA5}">
                      <a16:colId xmlns:a16="http://schemas.microsoft.com/office/drawing/2014/main" val="499131748"/>
                    </a:ext>
                  </a:extLst>
                </a:gridCol>
                <a:gridCol w="2094843">
                  <a:extLst>
                    <a:ext uri="{9D8B030D-6E8A-4147-A177-3AD203B41FA5}">
                      <a16:colId xmlns:a16="http://schemas.microsoft.com/office/drawing/2014/main" val="1596299445"/>
                    </a:ext>
                  </a:extLst>
                </a:gridCol>
                <a:gridCol w="2094843">
                  <a:extLst>
                    <a:ext uri="{9D8B030D-6E8A-4147-A177-3AD203B41FA5}">
                      <a16:colId xmlns:a16="http://schemas.microsoft.com/office/drawing/2014/main" val="2683066545"/>
                    </a:ext>
                  </a:extLst>
                </a:gridCol>
              </a:tblGrid>
              <a:tr h="14543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/>
                        <a:t>Performance Lag:</a:t>
                      </a:r>
                      <a:r>
                        <a:rPr lang="en-US" sz="1600" dirty="0"/>
                        <a:t> Implement intelligent caching and data indexing to pre-process common queries for instant results.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/>
                        <a:t>NLP Accuracy:</a:t>
                      </a:r>
                      <a:r>
                        <a:rPr lang="en-US" sz="1600" dirty="0"/>
                        <a:t> Fine-tune language models on scientific literature to better understand domain-specific queries.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/>
                        <a:t>Scalability:</a:t>
                      </a:r>
                      <a:r>
                        <a:rPr lang="en-US" sz="1600" dirty="0"/>
                        <a:t> Adopt a cloud-native, serverless architecture to handle increasing user loads efficiently.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5541426"/>
                  </a:ext>
                </a:extLst>
              </a:tr>
              <a:tr h="14543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/>
                        <a:t>Performance Lag:</a:t>
                      </a:r>
                      <a:r>
                        <a:rPr lang="en-US" sz="1600" dirty="0"/>
                        <a:t> Use optimized data aggregation techniques on the backend to minimize the load of real-time computations.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User Adoption:</a:t>
                      </a:r>
                      <a:r>
                        <a:rPr lang="en-US" sz="1600"/>
                        <a:t> Design a highly intuitive UX that is superior to existing tools. Engage a pilot user group for feedback.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/>
                        <a:t>Scalability:</a:t>
                      </a:r>
                      <a:r>
                        <a:rPr lang="en-US" sz="1600" dirty="0"/>
                        <a:t> Employ a microservices architecture to allow independent and efficient scaling of system components.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6788674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BBC31695-28E9-51FE-798E-E33BDA9A6165}"/>
              </a:ext>
            </a:extLst>
          </p:cNvPr>
          <p:cNvSpPr txBox="1"/>
          <p:nvPr/>
        </p:nvSpPr>
        <p:spPr>
          <a:xfrm>
            <a:off x="6770822" y="1439296"/>
            <a:ext cx="609463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CHALLENGES &amp; SOLUTIONS </a:t>
            </a:r>
            <a:endParaRPr lang="en-IN" sz="3200" dirty="0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FDD2EDC0-141B-1931-0664-9D35A79C7A2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00656" y="1315296"/>
            <a:ext cx="770166" cy="744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423E96F-0A5D-67A8-1236-CD74F2D46E59}"/>
              </a:ext>
            </a:extLst>
          </p:cNvPr>
          <p:cNvSpPr/>
          <p:nvPr/>
        </p:nvSpPr>
        <p:spPr>
          <a:xfrm>
            <a:off x="220436" y="1257300"/>
            <a:ext cx="5380264" cy="2408464"/>
          </a:xfrm>
          <a:prstGeom prst="rect">
            <a:avLst/>
          </a:prstGeom>
          <a:solidFill>
            <a:schemeClr val="bg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7D73E04-922D-C6DF-8847-C1FA82F9AC55}"/>
              </a:ext>
            </a:extLst>
          </p:cNvPr>
          <p:cNvSpPr/>
          <p:nvPr/>
        </p:nvSpPr>
        <p:spPr>
          <a:xfrm>
            <a:off x="220436" y="3784373"/>
            <a:ext cx="5380264" cy="2408464"/>
          </a:xfrm>
          <a:prstGeom prst="rect">
            <a:avLst/>
          </a:prstGeom>
          <a:solidFill>
            <a:schemeClr val="bg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186CE3-EAC0-38E4-EAD9-A713139B4E53}"/>
              </a:ext>
            </a:extLst>
          </p:cNvPr>
          <p:cNvSpPr txBox="1"/>
          <p:nvPr/>
        </p:nvSpPr>
        <p:spPr>
          <a:xfrm>
            <a:off x="332254" y="1800560"/>
            <a:ext cx="515662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dirty="0">
                <a:latin typeface="Arial" panose="020B0604020202020204" pitchFamily="34" charset="0"/>
              </a:rPr>
              <a:t>♦ </a:t>
            </a:r>
            <a:r>
              <a:rPr lang="en-IN" b="1" dirty="0"/>
              <a:t>Faster Scientific Discovery:</a:t>
            </a:r>
            <a:r>
              <a:rPr lang="en-IN" dirty="0"/>
              <a:t> Researchers can </a:t>
            </a:r>
            <a:r>
              <a:rPr lang="en-IN" dirty="0" err="1"/>
              <a:t>analyze</a:t>
            </a:r>
            <a:r>
              <a:rPr lang="en-IN" dirty="0"/>
              <a:t> complex ocean data in minutes.</a:t>
            </a:r>
          </a:p>
          <a:p>
            <a:r>
              <a:rPr lang="en-US" altLang="en-US" dirty="0">
                <a:latin typeface="Arial" panose="020B0604020202020204" pitchFamily="34" charset="0"/>
              </a:rPr>
              <a:t>♦ </a:t>
            </a:r>
            <a:r>
              <a:rPr lang="en-IN" b="1" dirty="0"/>
              <a:t>Improved Climate </a:t>
            </a:r>
            <a:r>
              <a:rPr lang="en-IN" b="1" dirty="0" err="1"/>
              <a:t>Modeling</a:t>
            </a:r>
            <a:r>
              <a:rPr lang="en-IN" b="1" dirty="0"/>
              <a:t>:</a:t>
            </a:r>
            <a:r>
              <a:rPr lang="en-IN" dirty="0"/>
              <a:t> Quicker, easier access to essential climate change data.</a:t>
            </a:r>
          </a:p>
          <a:p>
            <a:r>
              <a:rPr lang="en-US" altLang="en-US" dirty="0">
                <a:latin typeface="Arial" panose="020B0604020202020204" pitchFamily="34" charset="0"/>
              </a:rPr>
              <a:t>♦ </a:t>
            </a:r>
            <a:r>
              <a:rPr lang="en-IN" b="1" dirty="0"/>
              <a:t>Democratized Data Access:</a:t>
            </a:r>
            <a:r>
              <a:rPr lang="en-IN" dirty="0"/>
              <a:t> Students &amp; public can explore vital ocean data easily.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004EFB-3249-62EA-566C-5F51229B29DD}"/>
              </a:ext>
            </a:extLst>
          </p:cNvPr>
          <p:cNvSpPr txBox="1"/>
          <p:nvPr/>
        </p:nvSpPr>
        <p:spPr>
          <a:xfrm>
            <a:off x="865118" y="1382577"/>
            <a:ext cx="42783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70C0"/>
                </a:solidFill>
              </a:rPr>
              <a:t>POTENTIAL IMPACT </a:t>
            </a:r>
            <a:endParaRPr lang="en-IN" sz="2000" b="1" dirty="0">
              <a:solidFill>
                <a:srgbClr val="0070C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24A4435-7E13-9DFE-A93A-47A7F0C88B98}"/>
              </a:ext>
            </a:extLst>
          </p:cNvPr>
          <p:cNvSpPr txBox="1"/>
          <p:nvPr/>
        </p:nvSpPr>
        <p:spPr>
          <a:xfrm>
            <a:off x="879599" y="3894662"/>
            <a:ext cx="42783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70C0"/>
                </a:solidFill>
              </a:rPr>
              <a:t>BENEFITS </a:t>
            </a:r>
            <a:endParaRPr lang="en-IN" sz="2000" b="1" dirty="0">
              <a:solidFill>
                <a:srgbClr val="0070C0"/>
              </a:solidFill>
            </a:endParaRPr>
          </a:p>
        </p:txBody>
      </p:sp>
      <p:sp>
        <p:nvSpPr>
          <p:cNvPr id="13" name="Rectangle 1">
            <a:extLst>
              <a:ext uri="{FF2B5EF4-FFF2-40B4-BE49-F238E27FC236}">
                <a16:creationId xmlns:a16="http://schemas.microsoft.com/office/drawing/2014/main" id="{A2456DCD-38B7-CD17-C272-8B6E0BFDE1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6880" y="4294772"/>
            <a:ext cx="5163820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hangingPunct="0"/>
            <a:r>
              <a:rPr lang="en-US" altLang="en-US" dirty="0">
                <a:latin typeface="+mj-lt"/>
              </a:rPr>
              <a:t>♦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Social: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Enhances climate education; supports data-driven environmental policies.</a:t>
            </a:r>
          </a:p>
          <a:p>
            <a:pPr lvl="0" defTabSz="914400" eaLnBrk="0" hangingPunct="0"/>
            <a:r>
              <a:rPr lang="en-US" altLang="en-US" dirty="0">
                <a:latin typeface="+mj-lt"/>
              </a:rPr>
              <a:t>♦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Economic: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Reduces software costs for institutions; optimizes researchers' time.</a:t>
            </a:r>
          </a:p>
          <a:p>
            <a:pPr lvl="0" defTabSz="914400" eaLnBrk="0" hangingPunct="0"/>
            <a:r>
              <a:rPr lang="en-US" altLang="en-US" dirty="0">
                <a:latin typeface="+mj-lt"/>
              </a:rPr>
              <a:t>♦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Environmental: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Promotes better ocean monitoring; aids marine conservation efforts.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04E5FEB-5274-20AA-85A0-3234665339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280" y="1292467"/>
            <a:ext cx="510540" cy="51054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D05D930B-7EDD-1911-0586-B8F5300274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1536" y="3821620"/>
            <a:ext cx="504284" cy="504284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F4298935-24E9-859F-8139-A659A9C4E4F9}"/>
              </a:ext>
            </a:extLst>
          </p:cNvPr>
          <p:cNvSpPr txBox="1"/>
          <p:nvPr/>
        </p:nvSpPr>
        <p:spPr>
          <a:xfrm>
            <a:off x="8020809" y="1257300"/>
            <a:ext cx="42783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70C0"/>
                </a:solidFill>
              </a:rPr>
              <a:t>PROTOTYPE</a:t>
            </a:r>
            <a:endParaRPr lang="en-IN" sz="2800" b="1" dirty="0">
              <a:solidFill>
                <a:srgbClr val="0070C0"/>
              </a:solidFill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0E1EF05E-0FD4-8FD9-00EC-4807F2E43F4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23070" y="1148322"/>
            <a:ext cx="523220" cy="523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1153511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Details / Links of the reference and research work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7929</TotalTime>
  <Words>652</Words>
  <Application>Microsoft Office PowerPoint</Application>
  <PresentationFormat>Widescreen</PresentationFormat>
  <Paragraphs>86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ＭＳ Ｐゴシック</vt:lpstr>
      <vt:lpstr>Arial</vt:lpstr>
      <vt:lpstr>Calibri</vt:lpstr>
      <vt:lpstr>Garamond</vt:lpstr>
      <vt:lpstr>Times New Roman</vt:lpstr>
      <vt:lpstr>TradeGothic</vt:lpstr>
      <vt:lpstr>Office Theme</vt:lpstr>
      <vt:lpstr>SMART INDIA HACKATHON 2025</vt:lpstr>
      <vt:lpstr> IDEA TITLE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Giridharen G</cp:lastModifiedBy>
  <cp:revision>151</cp:revision>
  <dcterms:created xsi:type="dcterms:W3CDTF">2013-12-12T18:46:50Z</dcterms:created>
  <dcterms:modified xsi:type="dcterms:W3CDTF">2025-09-13T05:58:19Z</dcterms:modified>
  <cp:category/>
</cp:coreProperties>
</file>